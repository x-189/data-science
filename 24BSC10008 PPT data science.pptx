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7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17"/>
  </p:notesMasterIdLst>
  <p:sldIdLst>
    <p:sldId id="388" r:id="rId4"/>
    <p:sldId id="385" r:id="rId5"/>
    <p:sldId id="389" r:id="rId6"/>
    <p:sldId id="390" r:id="rId7"/>
    <p:sldId id="399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1" d="100"/>
          <a:sy n="71" d="100"/>
        </p:scale>
        <p:origin x="-45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kaurb\OneDrive\Desktop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[Book1.xlsx]Sheet2!$I$1:$I$2</c:f>
              <c:strCache>
                <c:ptCount val="1"/>
                <c:pt idx="0">
                  <c:v>Calculate Daily Total Calories Total Calories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numRef>
              <c:f>[Book1.xlsx]Sheet2!$H$3:$H$22</c:f>
              <c:numCache>
                <c:formatCode>dd/mmm</c:formatCode>
                <c:ptCount val="20"/>
                <c:pt idx="0" c:formatCode="dd/mmm">
                  <c:v>46113</c:v>
                </c:pt>
                <c:pt idx="1" c:formatCode="dd/mmm">
                  <c:v>46113</c:v>
                </c:pt>
                <c:pt idx="2" c:formatCode="dd/mmm">
                  <c:v>46113</c:v>
                </c:pt>
                <c:pt idx="3" c:formatCode="dd/mmm">
                  <c:v>46113</c:v>
                </c:pt>
                <c:pt idx="4" c:formatCode="dd/mmm">
                  <c:v>46114</c:v>
                </c:pt>
                <c:pt idx="5" c:formatCode="dd/mmm">
                  <c:v>46114</c:v>
                </c:pt>
                <c:pt idx="6" c:formatCode="dd/mmm">
                  <c:v>46114</c:v>
                </c:pt>
                <c:pt idx="7" c:formatCode="dd/mmm">
                  <c:v>46114</c:v>
                </c:pt>
                <c:pt idx="8" c:formatCode="dd/mmm">
                  <c:v>46115</c:v>
                </c:pt>
                <c:pt idx="9" c:formatCode="dd/mmm">
                  <c:v>46115</c:v>
                </c:pt>
                <c:pt idx="10" c:formatCode="dd/mmm">
                  <c:v>46115</c:v>
                </c:pt>
                <c:pt idx="11" c:formatCode="dd/mmm">
                  <c:v>46115</c:v>
                </c:pt>
                <c:pt idx="12" c:formatCode="dd/mmm">
                  <c:v>46116</c:v>
                </c:pt>
                <c:pt idx="13" c:formatCode="dd/mmm">
                  <c:v>46116</c:v>
                </c:pt>
                <c:pt idx="14" c:formatCode="dd/mmm">
                  <c:v>46116</c:v>
                </c:pt>
                <c:pt idx="15" c:formatCode="dd/mmm">
                  <c:v>46116</c:v>
                </c:pt>
                <c:pt idx="16" c:formatCode="dd/mmm">
                  <c:v>46117</c:v>
                </c:pt>
                <c:pt idx="17" c:formatCode="dd/mmm">
                  <c:v>46117</c:v>
                </c:pt>
                <c:pt idx="18" c:formatCode="dd/mmm">
                  <c:v>46117</c:v>
                </c:pt>
                <c:pt idx="19" c:formatCode="dd/mmm">
                  <c:v>46117</c:v>
                </c:pt>
              </c:numCache>
            </c:numRef>
          </c:cat>
          <c:val>
            <c:numRef>
              <c:f>[Book1.xlsx]Sheet2!$I$3:$I$22</c:f>
              <c:numCache>
                <c:formatCode>General</c:formatCode>
                <c:ptCount val="20"/>
                <c:pt idx="0">
                  <c:v>543</c:v>
                </c:pt>
                <c:pt idx="1">
                  <c:v>543</c:v>
                </c:pt>
                <c:pt idx="2">
                  <c:v>448</c:v>
                </c:pt>
                <c:pt idx="3">
                  <c:v>198</c:v>
                </c:pt>
                <c:pt idx="4">
                  <c:v>515</c:v>
                </c:pt>
                <c:pt idx="5">
                  <c:v>515</c:v>
                </c:pt>
                <c:pt idx="6">
                  <c:v>410</c:v>
                </c:pt>
                <c:pt idx="7">
                  <c:v>290</c:v>
                </c:pt>
                <c:pt idx="8">
                  <c:v>527</c:v>
                </c:pt>
                <c:pt idx="9">
                  <c:v>527</c:v>
                </c:pt>
                <c:pt idx="10">
                  <c:v>377</c:v>
                </c:pt>
                <c:pt idx="11">
                  <c:v>275</c:v>
                </c:pt>
                <c:pt idx="12">
                  <c:v>697</c:v>
                </c:pt>
                <c:pt idx="13">
                  <c:v>697</c:v>
                </c:pt>
                <c:pt idx="14">
                  <c:v>447</c:v>
                </c:pt>
                <c:pt idx="15">
                  <c:v>182</c:v>
                </c:pt>
                <c:pt idx="16">
                  <c:v>413</c:v>
                </c:pt>
                <c:pt idx="17">
                  <c:v>413</c:v>
                </c:pt>
                <c:pt idx="18">
                  <c:v>233</c:v>
                </c:pt>
                <c:pt idx="19">
                  <c:v>155</c:v>
                </c:pt>
              </c:numCache>
            </c:numRef>
          </c:val>
        </c:ser>
        <c:ser>
          <c:idx val="1"/>
          <c:order val="1"/>
          <c:tx>
            <c:strRef>
              <c:f>[Book1.xlsx]Sheet2!$J$1:$J$2</c:f>
              <c:strCache>
                <c:ptCount val="1"/>
                <c:pt idx="0">
                  <c:v>Calculate Daily Total Calories Target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numRef>
              <c:f>[Book1.xlsx]Sheet2!$H$3:$H$22</c:f>
              <c:numCache>
                <c:formatCode>dd/mmm</c:formatCode>
                <c:ptCount val="20"/>
                <c:pt idx="0" c:formatCode="dd/mmm">
                  <c:v>46113</c:v>
                </c:pt>
                <c:pt idx="1" c:formatCode="dd/mmm">
                  <c:v>46113</c:v>
                </c:pt>
                <c:pt idx="2" c:formatCode="dd/mmm">
                  <c:v>46113</c:v>
                </c:pt>
                <c:pt idx="3" c:formatCode="dd/mmm">
                  <c:v>46113</c:v>
                </c:pt>
                <c:pt idx="4" c:formatCode="dd/mmm">
                  <c:v>46114</c:v>
                </c:pt>
                <c:pt idx="5" c:formatCode="dd/mmm">
                  <c:v>46114</c:v>
                </c:pt>
                <c:pt idx="6" c:formatCode="dd/mmm">
                  <c:v>46114</c:v>
                </c:pt>
                <c:pt idx="7" c:formatCode="dd/mmm">
                  <c:v>46114</c:v>
                </c:pt>
                <c:pt idx="8" c:formatCode="dd/mmm">
                  <c:v>46115</c:v>
                </c:pt>
                <c:pt idx="9" c:formatCode="dd/mmm">
                  <c:v>46115</c:v>
                </c:pt>
                <c:pt idx="10" c:formatCode="dd/mmm">
                  <c:v>46115</c:v>
                </c:pt>
                <c:pt idx="11" c:formatCode="dd/mmm">
                  <c:v>46115</c:v>
                </c:pt>
                <c:pt idx="12" c:formatCode="dd/mmm">
                  <c:v>46116</c:v>
                </c:pt>
                <c:pt idx="13" c:formatCode="dd/mmm">
                  <c:v>46116</c:v>
                </c:pt>
                <c:pt idx="14" c:formatCode="dd/mmm">
                  <c:v>46116</c:v>
                </c:pt>
                <c:pt idx="15" c:formatCode="dd/mmm">
                  <c:v>46116</c:v>
                </c:pt>
                <c:pt idx="16" c:formatCode="dd/mmm">
                  <c:v>46117</c:v>
                </c:pt>
                <c:pt idx="17" c:formatCode="dd/mmm">
                  <c:v>46117</c:v>
                </c:pt>
                <c:pt idx="18" c:formatCode="dd/mmm">
                  <c:v>46117</c:v>
                </c:pt>
                <c:pt idx="19" c:formatCode="dd/mmm">
                  <c:v>46117</c:v>
                </c:pt>
              </c:numCache>
            </c:numRef>
          </c:cat>
          <c:val>
            <c:numRef>
              <c:f>[Book1.xlsx]Sheet2!$J$3:$J$22</c:f>
              <c:numCache>
                <c:formatCode>General</c:formatCode>
                <c:ptCount val="20"/>
                <c:pt idx="0">
                  <c:v>100</c:v>
                </c:pt>
                <c:pt idx="1">
                  <c:v>543</c:v>
                </c:pt>
                <c:pt idx="2">
                  <c:v>102</c:v>
                </c:pt>
                <c:pt idx="3">
                  <c:v>198</c:v>
                </c:pt>
                <c:pt idx="4">
                  <c:v>515</c:v>
                </c:pt>
                <c:pt idx="5">
                  <c:v>105</c:v>
                </c:pt>
                <c:pt idx="6">
                  <c:v>106</c:v>
                </c:pt>
                <c:pt idx="7">
                  <c:v>290</c:v>
                </c:pt>
                <c:pt idx="8">
                  <c:v>108</c:v>
                </c:pt>
                <c:pt idx="9">
                  <c:v>109</c:v>
                </c:pt>
                <c:pt idx="10">
                  <c:v>377</c:v>
                </c:pt>
                <c:pt idx="11">
                  <c:v>111</c:v>
                </c:pt>
                <c:pt idx="12">
                  <c:v>112</c:v>
                </c:pt>
                <c:pt idx="13">
                  <c:v>113</c:v>
                </c:pt>
                <c:pt idx="14">
                  <c:v>447</c:v>
                </c:pt>
                <c:pt idx="15">
                  <c:v>182</c:v>
                </c:pt>
                <c:pt idx="16">
                  <c:v>116</c:v>
                </c:pt>
                <c:pt idx="17">
                  <c:v>413</c:v>
                </c:pt>
                <c:pt idx="18">
                  <c:v>118</c:v>
                </c:pt>
                <c:pt idx="19">
                  <c:v>155</c:v>
                </c:pt>
              </c:numCache>
            </c:numRef>
          </c:val>
        </c:ser>
        <c:ser>
          <c:idx val="2"/>
          <c:order val="2"/>
          <c:tx>
            <c:strRef>
              <c:f>[Book1.xlsx]Sheet2!$K$1:$K$2</c:f>
              <c:strCache>
                <c:ptCount val="1"/>
                <c:pt idx="0">
                  <c:v>Calculate Daily Total Calories Difference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numRef>
              <c:f>[Book1.xlsx]Sheet2!$H$3:$H$22</c:f>
              <c:numCache>
                <c:formatCode>dd/mmm</c:formatCode>
                <c:ptCount val="20"/>
                <c:pt idx="0" c:formatCode="dd/mmm">
                  <c:v>46113</c:v>
                </c:pt>
                <c:pt idx="1" c:formatCode="dd/mmm">
                  <c:v>46113</c:v>
                </c:pt>
                <c:pt idx="2" c:formatCode="dd/mmm">
                  <c:v>46113</c:v>
                </c:pt>
                <c:pt idx="3" c:formatCode="dd/mmm">
                  <c:v>46113</c:v>
                </c:pt>
                <c:pt idx="4" c:formatCode="dd/mmm">
                  <c:v>46114</c:v>
                </c:pt>
                <c:pt idx="5" c:formatCode="dd/mmm">
                  <c:v>46114</c:v>
                </c:pt>
                <c:pt idx="6" c:formatCode="dd/mmm">
                  <c:v>46114</c:v>
                </c:pt>
                <c:pt idx="7" c:formatCode="dd/mmm">
                  <c:v>46114</c:v>
                </c:pt>
                <c:pt idx="8" c:formatCode="dd/mmm">
                  <c:v>46115</c:v>
                </c:pt>
                <c:pt idx="9" c:formatCode="dd/mmm">
                  <c:v>46115</c:v>
                </c:pt>
                <c:pt idx="10" c:formatCode="dd/mmm">
                  <c:v>46115</c:v>
                </c:pt>
                <c:pt idx="11" c:formatCode="dd/mmm">
                  <c:v>46115</c:v>
                </c:pt>
                <c:pt idx="12" c:formatCode="dd/mmm">
                  <c:v>46116</c:v>
                </c:pt>
                <c:pt idx="13" c:formatCode="dd/mmm">
                  <c:v>46116</c:v>
                </c:pt>
                <c:pt idx="14" c:formatCode="dd/mmm">
                  <c:v>46116</c:v>
                </c:pt>
                <c:pt idx="15" c:formatCode="dd/mmm">
                  <c:v>46116</c:v>
                </c:pt>
                <c:pt idx="16" c:formatCode="dd/mmm">
                  <c:v>46117</c:v>
                </c:pt>
                <c:pt idx="17" c:formatCode="dd/mmm">
                  <c:v>46117</c:v>
                </c:pt>
                <c:pt idx="18" c:formatCode="dd/mmm">
                  <c:v>46117</c:v>
                </c:pt>
                <c:pt idx="19" c:formatCode="dd/mmm">
                  <c:v>46117</c:v>
                </c:pt>
              </c:numCache>
            </c:numRef>
          </c:cat>
          <c:val>
            <c:numRef>
              <c:f>[Book1.xlsx]Sheet2!$K$3:$K$22</c:f>
              <c:numCache>
                <c:formatCode>General</c:formatCode>
                <c:ptCount val="20"/>
                <c:pt idx="0">
                  <c:v>443</c:v>
                </c:pt>
                <c:pt idx="1">
                  <c:v>0</c:v>
                </c:pt>
                <c:pt idx="2">
                  <c:v>346</c:v>
                </c:pt>
                <c:pt idx="3">
                  <c:v>0</c:v>
                </c:pt>
                <c:pt idx="4">
                  <c:v>0</c:v>
                </c:pt>
                <c:pt idx="5">
                  <c:v>410</c:v>
                </c:pt>
                <c:pt idx="6">
                  <c:v>304</c:v>
                </c:pt>
                <c:pt idx="7">
                  <c:v>0</c:v>
                </c:pt>
                <c:pt idx="8">
                  <c:v>419</c:v>
                </c:pt>
                <c:pt idx="9">
                  <c:v>418</c:v>
                </c:pt>
                <c:pt idx="10">
                  <c:v>0</c:v>
                </c:pt>
                <c:pt idx="11">
                  <c:v>164</c:v>
                </c:pt>
                <c:pt idx="12">
                  <c:v>585</c:v>
                </c:pt>
                <c:pt idx="13">
                  <c:v>584</c:v>
                </c:pt>
                <c:pt idx="14">
                  <c:v>0</c:v>
                </c:pt>
                <c:pt idx="15">
                  <c:v>0</c:v>
                </c:pt>
                <c:pt idx="16">
                  <c:v>297</c:v>
                </c:pt>
                <c:pt idx="17">
                  <c:v>0</c:v>
                </c:pt>
                <c:pt idx="18">
                  <c:v>115</c:v>
                </c:pt>
                <c:pt idx="1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1d4c525-7543-4320-975b-055cd7772de3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41A47-E88A-45AE-8E11-E572B696816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57E56-7382-40CD-8823-AA0D67E262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/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C579-D5CF-438A-8FF1-9C0BC3E8A2F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image" Target="../media/image2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824415" cy="132556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60240-26D8-4DB8-AA37-2F8E8E9432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3C579-D5CF-438A-8FF1-9C0BC3E8A2F2}" type="slidenum">
              <a:rPr lang="en-IN" smtClean="0"/>
            </a:fld>
            <a:endParaRPr lang="en-IN"/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17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txStyles>
    <p:titleStyle>
      <a:lvl1pPr algn="ctr" defTabSz="1219200" rtl="0" eaLnBrk="1" latinLnBrk="1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web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2"/>
          <p:cNvSpPr txBox="1"/>
          <p:nvPr/>
        </p:nvSpPr>
        <p:spPr bwMode="auto"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9507538" y="5940425"/>
            <a:ext cx="1290637" cy="11572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Parallelogram 46"/>
          <p:cNvSpPr/>
          <p:nvPr/>
        </p:nvSpPr>
        <p:spPr>
          <a:xfrm flipH="1" flipV="1">
            <a:off x="188446" y="0"/>
            <a:ext cx="3376613" cy="4232275"/>
          </a:xfrm>
          <a:custGeom>
            <a:avLst/>
            <a:gdLst>
              <a:gd name="connsiteX0" fmla="*/ 0 w 3233057"/>
              <a:gd name="connsiteY0" fmla="*/ 1769485 h 1769485"/>
              <a:gd name="connsiteX1" fmla="*/ 1332599 w 3233057"/>
              <a:gd name="connsiteY1" fmla="*/ 0 h 1769485"/>
              <a:gd name="connsiteX2" fmla="*/ 3233057 w 3233057"/>
              <a:gd name="connsiteY2" fmla="*/ 0 h 1769485"/>
              <a:gd name="connsiteX3" fmla="*/ 1900458 w 3233057"/>
              <a:gd name="connsiteY3" fmla="*/ 1769485 h 1769485"/>
              <a:gd name="connsiteX4" fmla="*/ 0 w 3233057"/>
              <a:gd name="connsiteY4" fmla="*/ 1769485 h 1769485"/>
              <a:gd name="connsiteX0-1" fmla="*/ 0 w 3233057"/>
              <a:gd name="connsiteY0-2" fmla="*/ 3426835 h 3426835"/>
              <a:gd name="connsiteX1-3" fmla="*/ 3066149 w 3233057"/>
              <a:gd name="connsiteY1-4" fmla="*/ 0 h 3426835"/>
              <a:gd name="connsiteX2-5" fmla="*/ 3233057 w 3233057"/>
              <a:gd name="connsiteY2-6" fmla="*/ 1657350 h 3426835"/>
              <a:gd name="connsiteX3-7" fmla="*/ 1900458 w 3233057"/>
              <a:gd name="connsiteY3-8" fmla="*/ 3426835 h 3426835"/>
              <a:gd name="connsiteX4-9" fmla="*/ 0 w 3233057"/>
              <a:gd name="connsiteY4-10" fmla="*/ 3426835 h 3426835"/>
              <a:gd name="connsiteX0-11" fmla="*/ 0 w 3080657"/>
              <a:gd name="connsiteY0-12" fmla="*/ 3426835 h 3426835"/>
              <a:gd name="connsiteX1-13" fmla="*/ 3066149 w 3080657"/>
              <a:gd name="connsiteY1-14" fmla="*/ 0 h 3426835"/>
              <a:gd name="connsiteX2-15" fmla="*/ 3080657 w 3080657"/>
              <a:gd name="connsiteY2-16" fmla="*/ 1879600 h 3426835"/>
              <a:gd name="connsiteX3-17" fmla="*/ 1900458 w 3080657"/>
              <a:gd name="connsiteY3-18" fmla="*/ 3426835 h 3426835"/>
              <a:gd name="connsiteX4-19" fmla="*/ 0 w 3080657"/>
              <a:gd name="connsiteY4-20" fmla="*/ 3426835 h 3426835"/>
              <a:gd name="connsiteX0-21" fmla="*/ 0 w 3080657"/>
              <a:gd name="connsiteY0-22" fmla="*/ 3718935 h 3718935"/>
              <a:gd name="connsiteX1-23" fmla="*/ 3066149 w 3080657"/>
              <a:gd name="connsiteY1-24" fmla="*/ 0 h 3718935"/>
              <a:gd name="connsiteX2-25" fmla="*/ 3080657 w 3080657"/>
              <a:gd name="connsiteY2-26" fmla="*/ 2171700 h 3718935"/>
              <a:gd name="connsiteX3-27" fmla="*/ 1900458 w 3080657"/>
              <a:gd name="connsiteY3-28" fmla="*/ 3718935 h 3718935"/>
              <a:gd name="connsiteX4-29" fmla="*/ 0 w 3080657"/>
              <a:gd name="connsiteY4-30" fmla="*/ 3718935 h 37189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0657" h="3718935">
                <a:moveTo>
                  <a:pt x="0" y="3718935"/>
                </a:moveTo>
                <a:lnTo>
                  <a:pt x="3066149" y="0"/>
                </a:lnTo>
                <a:lnTo>
                  <a:pt x="3080657" y="2171700"/>
                </a:lnTo>
                <a:lnTo>
                  <a:pt x="1900458" y="3718935"/>
                </a:lnTo>
                <a:lnTo>
                  <a:pt x="0" y="3718935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6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A08A369-7120-4914-9A82-0F5254793A04}" type="slidenum">
              <a:rPr lang="en-US" altLang="en-US" sz="1200" smtClean="0">
                <a:solidFill>
                  <a:srgbClr val="002060"/>
                </a:solidFill>
              </a:rPr>
            </a:fld>
            <a:endParaRPr lang="en-US" altLang="en-US" sz="120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5262" y="1241564"/>
            <a:ext cx="62506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Overview </a:t>
            </a:r>
            <a:endParaRPr lang="en-US" sz="7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Computing </a:t>
            </a:r>
            <a:endParaRPr lang="en-US" sz="7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endParaRPr lang="en-US" sz="7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Planning</a:t>
            </a:r>
            <a:endParaRPr lang="en-US" sz="7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8595" y="894715"/>
            <a:ext cx="11736070" cy="523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UNIVERSITY INSTITUTE OF COMPUTING</a:t>
            </a:r>
            <a:endParaRPr lang="en-US" sz="2800" b="1" dirty="0">
              <a:latin typeface="Times New Roman" panose="02020603050405020304" pitchFamily="18" charset="0"/>
              <a:ea typeface="Karla" pitchFamily="2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Bachelors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IN" alt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Science in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Minor Project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alt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24SCP-258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Calorie Intake Tracker using Excel</a:t>
            </a:r>
            <a:endParaRPr lang="en-US" alt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47916" y="5937897"/>
            <a:ext cx="516163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Presentation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832521" y="589355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43412" y="4756036"/>
            <a:ext cx="5161633" cy="94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I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Pawandeep Kaur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UID:</a:t>
            </a:r>
            <a:r>
              <a:rPr lang="en-I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24BSC10008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Section/Group:</a:t>
            </a:r>
            <a:r>
              <a:rPr lang="en-I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24BSC1-A</a:t>
            </a:r>
            <a:endParaRPr lang="en-IN" altLang="en-US" sz="1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832521" y="4756036"/>
            <a:ext cx="5161633" cy="94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Name:</a:t>
            </a:r>
            <a:r>
              <a:rPr lang="en-I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Parwan Singh</a:t>
            </a:r>
            <a:endParaRPr lang="en-US" sz="16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Code:</a:t>
            </a:r>
            <a:r>
              <a:rPr lang="en-I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E15436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  <a:r>
              <a:rPr lang="en-I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Profressor</a:t>
            </a:r>
            <a:endParaRPr lang="en-IN" altLang="en-US" sz="16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531" y="136525"/>
            <a:ext cx="8646459" cy="1279527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en-US" alt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40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latin typeface="Casper"/>
                <a:cs typeface="Times New Roman" panose="02020603050405020304" pitchFamily="18" charset="0"/>
              </a:rPr>
            </a:fld>
            <a:endParaRPr lang="en-US">
              <a:latin typeface="Casper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94447" y="1639888"/>
            <a:ext cx="11152093" cy="4608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Gaps &amp; Project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Scope/Rele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Aspects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5384800" y="1758950"/>
            <a:ext cx="5719445" cy="4029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824595" cy="1172845"/>
          </a:xfrm>
        </p:spPr>
        <p:txBody>
          <a:bodyPr/>
          <a:p>
            <a:r>
              <a:rPr lang="en-US" altLang="en-US" sz="480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Introduction to Project</a:t>
            </a:r>
            <a:endParaRPr lang="en-US" altLang="en-US" sz="4800">
              <a:solidFill>
                <a:schemeClr val="accent2">
                  <a:lumMod val="75000"/>
                </a:schemeClr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160" y="1691640"/>
            <a:ext cx="10677525" cy="4887595"/>
          </a:xfrm>
        </p:spPr>
        <p:txBody>
          <a:bodyPr/>
          <a:p>
            <a:pPr marL="0" indent="0">
              <a:buNone/>
            </a:pPr>
            <a:endParaRPr lang="en-US" altLang="en-US" sz="2000" b="1"/>
          </a:p>
          <a:p>
            <a:r>
              <a:rPr lang="en-US" altLang="en-US" sz="1800"/>
              <a:t>This project focuses on tracking daily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    </a:t>
            </a:r>
            <a:r>
              <a:rPr lang="en-US" altLang="en-US" sz="1800"/>
              <a:t>calorie intake using Excel</a:t>
            </a:r>
            <a:endParaRPr lang="en-US" altLang="en-US" sz="1800"/>
          </a:p>
          <a:p>
            <a:r>
              <a:rPr lang="en-US" altLang="en-US" sz="1800"/>
              <a:t>Helps users record food consumption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  </a:t>
            </a:r>
            <a:r>
              <a:rPr lang="en-US" altLang="en-US" sz="1800"/>
              <a:t>and monitor diet</a:t>
            </a:r>
            <a:endParaRPr lang="en-US" altLang="en-US" sz="1800"/>
          </a:p>
          <a:p>
            <a:r>
              <a:rPr lang="en-US" altLang="en-US" sz="1800"/>
              <a:t>Calculates total calories and compares with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  </a:t>
            </a:r>
            <a:r>
              <a:rPr lang="en-US" altLang="en-US" sz="1800"/>
              <a:t>a target value</a:t>
            </a:r>
            <a:endParaRPr lang="en-US" altLang="en-US" sz="1800"/>
          </a:p>
          <a:p>
            <a:r>
              <a:rPr lang="en-US" altLang="en-US" sz="1800"/>
              <a:t>Provides visual insights using charts and </a:t>
            </a:r>
            <a:endParaRPr lang="en-US" altLang="en-US" sz="1800"/>
          </a:p>
          <a:p>
            <a:pPr marL="0" indent="0">
              <a:buNone/>
            </a:pPr>
            <a:r>
              <a:rPr lang="en-IN" altLang="en-US" sz="1800"/>
              <a:t>           </a:t>
            </a:r>
            <a:r>
              <a:rPr lang="en-US" altLang="en-US" sz="1800"/>
              <a:t>dashboards</a:t>
            </a:r>
            <a:endParaRPr lang="en-US" altLang="en-US" sz="1800"/>
          </a:p>
          <a:p>
            <a:endParaRPr lang="en-US" altLang="en-US" sz="16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5" name="Picture 9"/>
          <p:cNvPicPr>
            <a:picLocks noChangeAspect="1"/>
          </p:cNvPicPr>
          <p:nvPr/>
        </p:nvPicPr>
        <p:blipFill>
          <a:blip r:embed="rId1"/>
          <a:srcRect t="1378" b="2663"/>
          <a:stretch>
            <a:fillRect/>
          </a:stretch>
        </p:blipFill>
        <p:spPr>
          <a:xfrm>
            <a:off x="5650865" y="1786255"/>
            <a:ext cx="5465445" cy="469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5400">
                <a:solidFill>
                  <a:schemeClr val="accent2">
                    <a:lumMod val="7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  <a:sym typeface="+mn-ea"/>
              </a:rPr>
              <a:t>Technology Used</a:t>
            </a:r>
            <a:endParaRPr lang="en-US" altLang="en-US" sz="5400">
              <a:solidFill>
                <a:schemeClr val="accent2">
                  <a:lumMod val="75000"/>
                </a:schemeClr>
              </a:solidFill>
              <a:effectLst/>
              <a:latin typeface="Calibri Light" panose="020F0302020204030204" charset="0"/>
              <a:cs typeface="Calibri Light" panose="020F0302020204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lnSpc>
                <a:spcPct val="110000"/>
              </a:lnSpc>
            </a:pPr>
            <a:r>
              <a:rPr lang="en-US" altLang="en-US" b="1"/>
              <a:t>Microsoft Excel</a:t>
            </a:r>
            <a:endParaRPr lang="en-US" altLang="en-US" b="1"/>
          </a:p>
          <a:p>
            <a:pPr>
              <a:lnSpc>
                <a:spcPct val="110000"/>
              </a:lnSpc>
            </a:pPr>
            <a:r>
              <a:rPr lang="en-US" altLang="en-US" b="1"/>
              <a:t>Formulas:</a:t>
            </a:r>
            <a:endParaRPr lang="en-US" altLang="en-US" b="1"/>
          </a:p>
          <a:p>
            <a:pPr lvl="3" algn="just">
              <a:lnSpc>
                <a:spcPct val="110000"/>
              </a:lnSpc>
            </a:pPr>
            <a:r>
              <a:rPr lang="en-US" altLang="en-US" sz="2000"/>
              <a:t>SUMIF (calculate total calories)</a:t>
            </a:r>
            <a:endParaRPr lang="en-US" altLang="en-US" sz="2000"/>
          </a:p>
          <a:p>
            <a:pPr lvl="3" algn="just">
              <a:lnSpc>
                <a:spcPct val="110000"/>
              </a:lnSpc>
            </a:pPr>
            <a:r>
              <a:rPr lang="en-US" altLang="en-US" sz="2000"/>
              <a:t>IF (comparison with target)</a:t>
            </a:r>
            <a:endParaRPr lang="en-US" altLang="en-US" sz="2000"/>
          </a:p>
          <a:p>
            <a:pPr lvl="3" algn="just">
              <a:lnSpc>
                <a:spcPct val="110000"/>
              </a:lnSpc>
            </a:pPr>
            <a:r>
              <a:rPr lang="en-US" altLang="en-US" sz="2000"/>
              <a:t>AVERAGE (weekly analysis)</a:t>
            </a:r>
            <a:endParaRPr lang="en-US" altLang="en-US" sz="2000"/>
          </a:p>
          <a:p>
            <a:pPr lvl="3">
              <a:lnSpc>
                <a:spcPct val="110000"/>
              </a:lnSpc>
            </a:pPr>
            <a:r>
              <a:rPr lang="en-US" altLang="en-US" sz="2000"/>
              <a:t>VLOOKUP/XLOOKUP (data lookup)</a:t>
            </a:r>
            <a:endParaRPr lang="en-US" altLang="en-US" sz="2000"/>
          </a:p>
          <a:p>
            <a:pPr>
              <a:lnSpc>
                <a:spcPct val="110000"/>
              </a:lnSpc>
            </a:pPr>
            <a:r>
              <a:rPr lang="en-US" altLang="en-US" b="1"/>
              <a:t>Tools:</a:t>
            </a:r>
            <a:endParaRPr lang="en-US" altLang="en-US" b="1"/>
          </a:p>
          <a:p>
            <a:pPr lvl="3">
              <a:lnSpc>
                <a:spcPct val="110000"/>
              </a:lnSpc>
            </a:pPr>
            <a:r>
              <a:rPr lang="en-US" altLang="en-US" sz="2000"/>
              <a:t>Charts (Line, Bar, Pie)</a:t>
            </a:r>
            <a:endParaRPr lang="en-US" altLang="en-US" sz="2000"/>
          </a:p>
          <a:p>
            <a:pPr lvl="3">
              <a:lnSpc>
                <a:spcPct val="110000"/>
              </a:lnSpc>
            </a:pPr>
            <a:r>
              <a:rPr lang="en-US" altLang="en-US" sz="2000"/>
              <a:t>Conditional Formatting</a:t>
            </a:r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rcRect t="8102" b="15093"/>
          <a:stretch>
            <a:fillRect/>
          </a:stretch>
        </p:blipFill>
        <p:spPr>
          <a:xfrm>
            <a:off x="6344285" y="2004060"/>
            <a:ext cx="4725670" cy="3829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7085" y="2850515"/>
            <a:ext cx="5948045" cy="3473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35" y="2932430"/>
            <a:ext cx="4911090" cy="37026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270" y="91440"/>
            <a:ext cx="8190230" cy="2588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2">
                    <a:lumMod val="75000"/>
                  </a:schemeClr>
                </a:solidFill>
                <a:effectLst/>
                <a:sym typeface="+mn-ea"/>
              </a:rPr>
              <a:t>Existing Gaps &amp; Project Features</a:t>
            </a:r>
            <a:endParaRPr lang="en-US" altLang="en-US">
              <a:solidFill>
                <a:schemeClr val="accent2">
                  <a:lumMod val="75000"/>
                </a:schemeClr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2315"/>
          </a:xfrm>
        </p:spPr>
        <p:txBody>
          <a:bodyPr>
            <a:normAutofit lnSpcReduction="10000"/>
          </a:bodyPr>
          <a:p>
            <a:r>
              <a:rPr lang="en-US" altLang="en-US" b="1"/>
              <a:t>Existing Gaps</a:t>
            </a:r>
            <a:endParaRPr lang="en-US" altLang="en-US" b="1"/>
          </a:p>
          <a:p>
            <a:pPr lvl="2"/>
            <a:r>
              <a:rPr lang="en-US" altLang="en-US" sz="2000"/>
              <a:t>People do not track daily calorie intake</a:t>
            </a:r>
            <a:endParaRPr lang="en-US" altLang="en-US" sz="2000"/>
          </a:p>
          <a:p>
            <a:pPr lvl="2"/>
            <a:r>
              <a:rPr lang="en-US" altLang="en-US" sz="2000"/>
              <a:t>Lack of awareness about eating habits</a:t>
            </a:r>
            <a:endParaRPr lang="en-US" altLang="en-US" sz="2000"/>
          </a:p>
          <a:p>
            <a:pPr lvl="2"/>
            <a:r>
              <a:rPr lang="en-US" altLang="en-US" sz="2000"/>
              <a:t>Manual tracking methods are time-consumin</a:t>
            </a:r>
            <a:r>
              <a:rPr lang="en-IN" altLang="en-US" sz="2000"/>
              <a:t>g</a:t>
            </a:r>
            <a:endParaRPr lang="en-US" altLang="en-US" sz="2000"/>
          </a:p>
          <a:p>
            <a:pPr lvl="2"/>
            <a:endParaRPr lang="en-US" altLang="en-US" sz="2000"/>
          </a:p>
          <a:p>
            <a:r>
              <a:rPr lang="en-US" altLang="en-US" b="1"/>
              <a:t>Project Features</a:t>
            </a:r>
            <a:endParaRPr lang="en-US" altLang="en-US" b="1"/>
          </a:p>
          <a:p>
            <a:pPr lvl="3"/>
            <a:r>
              <a:rPr lang="en-US" altLang="en-US" sz="2000"/>
              <a:t>Easy data entry system</a:t>
            </a:r>
            <a:endParaRPr lang="en-US" altLang="en-US" sz="2000"/>
          </a:p>
          <a:p>
            <a:pPr lvl="3"/>
            <a:r>
              <a:rPr lang="en-US" altLang="en-US" sz="2000"/>
              <a:t>Automatic calorie calculation</a:t>
            </a:r>
            <a:endParaRPr lang="en-US" altLang="en-US" sz="2000"/>
          </a:p>
          <a:p>
            <a:pPr lvl="3"/>
            <a:r>
              <a:rPr lang="en-US" altLang="en-US" sz="2000"/>
              <a:t>Target vs actual comparison</a:t>
            </a:r>
            <a:endParaRPr lang="en-US" altLang="en-US" sz="2000"/>
          </a:p>
          <a:p>
            <a:pPr lvl="3"/>
            <a:r>
              <a:rPr lang="en-US" altLang="en-US" sz="2000"/>
              <a:t>Visual dashboards and charts</a:t>
            </a:r>
            <a:endParaRPr lang="en-US" altLang="en-US" sz="2000"/>
          </a:p>
        </p:txBody>
      </p:sp>
      <p:pic>
        <p:nvPicPr>
          <p:cNvPr id="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025" y="1922780"/>
            <a:ext cx="4339590" cy="4388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6000">
                <a:solidFill>
                  <a:schemeClr val="accent2">
                    <a:lumMod val="75000"/>
                  </a:schemeClr>
                </a:solidFill>
                <a:sym typeface="+mn-ea"/>
              </a:rPr>
              <a:t>  </a:t>
            </a:r>
            <a:r>
              <a:rPr lang="en-US" altLang="en-US" sz="600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Objectives</a:t>
            </a:r>
            <a:endParaRPr lang="en-US" altLang="en-US" sz="6000">
              <a:solidFill>
                <a:schemeClr val="accent2">
                  <a:lumMod val="75000"/>
                </a:schemeClr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To track daily food consumption</a:t>
            </a:r>
            <a:endParaRPr lang="en-US" altLang="en-US" sz="2000"/>
          </a:p>
          <a:p>
            <a:r>
              <a:rPr lang="en-US" altLang="en-US" sz="2000"/>
              <a:t>To calculate total calorie intake</a:t>
            </a:r>
            <a:endParaRPr lang="en-US" altLang="en-US" sz="2000"/>
          </a:p>
          <a:p>
            <a:r>
              <a:rPr lang="en-US" altLang="en-US" sz="2000"/>
              <a:t>To compare intake with target calories</a:t>
            </a:r>
            <a:endParaRPr lang="en-US" altLang="en-US" sz="2000"/>
          </a:p>
          <a:p>
            <a:r>
              <a:rPr lang="en-US" altLang="en-US" sz="2000"/>
              <a:t>To analyze eating patterns</a:t>
            </a:r>
            <a:endParaRPr lang="en-US" altLang="en-US" sz="2000"/>
          </a:p>
          <a:p>
            <a:r>
              <a:rPr lang="en-US" altLang="en-US" sz="2000"/>
              <a:t>To create visual dashboards</a:t>
            </a:r>
            <a:endParaRPr lang="en-US" altLang="en-US" sz="2000"/>
          </a:p>
        </p:txBody>
      </p:sp>
      <p:graphicFrame>
        <p:nvGraphicFramePr>
          <p:cNvPr id="4" name="Chart 3"/>
          <p:cNvGraphicFramePr/>
          <p:nvPr/>
        </p:nvGraphicFramePr>
        <p:xfrm>
          <a:off x="5753100" y="2059305"/>
          <a:ext cx="4881880" cy="3569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540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Scope / Relevance</a:t>
            </a:r>
            <a:endParaRPr lang="en-US" altLang="en-US" sz="5400">
              <a:solidFill>
                <a:schemeClr val="accent2">
                  <a:lumMod val="75000"/>
                </a:schemeClr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Useful for maintaining a healthy lifestyle</a:t>
            </a:r>
            <a:endParaRPr lang="en-US" altLang="en-US"/>
          </a:p>
          <a:p>
            <a:r>
              <a:rPr lang="en-US" altLang="en-US"/>
              <a:t>Helps in understanding eating habits</a:t>
            </a:r>
            <a:endParaRPr lang="en-US" altLang="en-US"/>
          </a:p>
          <a:p>
            <a:r>
              <a:rPr lang="en-US" altLang="en-US"/>
              <a:t>Applicable for students and fitness enthusiasts</a:t>
            </a:r>
            <a:endParaRPr lang="en-US" altLang="en-US"/>
          </a:p>
          <a:p>
            <a:r>
              <a:rPr lang="en-US" altLang="en-US"/>
              <a:t>Demonstrates real-life use of Excel in data analysis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6000">
                <a:effectLst/>
                <a:sym typeface="+mn-ea"/>
              </a:rPr>
              <a:t> </a:t>
            </a:r>
            <a:r>
              <a:rPr lang="en-US" altLang="en-US" sz="6000">
                <a:solidFill>
                  <a:schemeClr val="accent2">
                    <a:lumMod val="50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Project Flow</a:t>
            </a:r>
            <a:endParaRPr lang="en-US" altLang="en-US" sz="6000">
              <a:solidFill>
                <a:schemeClr val="accent2">
                  <a:lumMod val="50000"/>
                </a:schemeClr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r>
              <a:rPr lang="en-US" altLang="en-US" sz="2000"/>
              <a:t>Step 1: Data Entry (Date, Food Item, Category, Calories)</a:t>
            </a:r>
            <a:endParaRPr lang="en-US" altLang="en-US" sz="2000"/>
          </a:p>
          <a:p>
            <a:r>
              <a:rPr lang="en-US" altLang="en-US" sz="2000"/>
              <a:t>Step 2: Data Processing using formulas</a:t>
            </a:r>
            <a:endParaRPr lang="en-US" altLang="en-US" sz="2000"/>
          </a:p>
          <a:p>
            <a:r>
              <a:rPr lang="en-US" altLang="en-US" sz="2000"/>
              <a:t>Step 3: Calculation of daily total calories</a:t>
            </a:r>
            <a:endParaRPr lang="en-US" altLang="en-US" sz="2000"/>
          </a:p>
          <a:p>
            <a:r>
              <a:rPr lang="en-US" altLang="en-US" sz="2000"/>
              <a:t>Step 4: Comparison with target calories</a:t>
            </a:r>
            <a:endParaRPr lang="en-US" altLang="en-US" sz="2000"/>
          </a:p>
          <a:p>
            <a:r>
              <a:rPr lang="en-US" altLang="en-US" sz="2000"/>
              <a:t>Step 5: Analysis using PivotTables</a:t>
            </a:r>
            <a:endParaRPr lang="en-US" altLang="en-US" sz="2000"/>
          </a:p>
          <a:p>
            <a:r>
              <a:rPr lang="en-US" altLang="en-US" sz="2000"/>
              <a:t>Step 6: Visualization using charts</a:t>
            </a:r>
            <a:endParaRPr lang="en-US" altLang="en-US" sz="2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5325" y="2151380"/>
            <a:ext cx="4068445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5400">
                <a:solidFill>
                  <a:schemeClr val="accent1">
                    <a:lumMod val="75000"/>
                  </a:schemeClr>
                </a:solidFill>
                <a:effectLst/>
              </a:rPr>
              <a:t> Comparative Analysis</a:t>
            </a:r>
            <a:endParaRPr lang="en-US" altLang="en-US" sz="540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  <p:custDataLst>
              <p:tags r:id="rId1"/>
            </p:custDataLst>
          </p:nvPr>
        </p:nvGraphicFramePr>
        <p:xfrm>
          <a:off x="760095" y="1825625"/>
          <a:ext cx="10593705" cy="404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3305"/>
                <a:gridCol w="3505200"/>
                <a:gridCol w="3505200"/>
              </a:tblGrid>
              <a:tr h="809625"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Aspect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Before Project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After Project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</a:tr>
              <a:tr h="809625"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Tracking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Manual / Not done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Systematic in Excel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</a:tr>
              <a:tr h="809625"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Accuracy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Low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Improved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</a:tr>
              <a:tr h="809625"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Analysis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Difficult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Easy with charts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</a:tr>
              <a:tr h="809625"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Awareness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Low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High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5400">
                <a:solidFill>
                  <a:schemeClr val="accent2">
                    <a:lumMod val="75000"/>
                  </a:schemeClr>
                </a:solidFill>
                <a:effectLst/>
                <a:sym typeface="+mn-ea"/>
              </a:rPr>
              <a:t>Conclusion &amp; Future Aspects</a:t>
            </a:r>
            <a:endParaRPr lang="en-US" altLang="en-US" sz="5400">
              <a:solidFill>
                <a:schemeClr val="accent2">
                  <a:lumMod val="75000"/>
                </a:schemeClr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b="1"/>
              <a:t>Conclusion</a:t>
            </a:r>
            <a:endParaRPr lang="en-US" altLang="en-US" b="1"/>
          </a:p>
          <a:p>
            <a:pPr lvl="2"/>
            <a:r>
              <a:rPr lang="en-US" altLang="en-US"/>
              <a:t>Excel is effective for tracking and analyzing calorie intake</a:t>
            </a:r>
            <a:endParaRPr lang="en-US" altLang="en-US"/>
          </a:p>
          <a:p>
            <a:pPr lvl="2"/>
            <a:r>
              <a:rPr lang="en-US" altLang="en-US"/>
              <a:t>Helps improve eating habits</a:t>
            </a:r>
            <a:endParaRPr lang="en-US" altLang="en-US"/>
          </a:p>
          <a:p>
            <a:pPr lvl="2"/>
            <a:r>
              <a:rPr lang="en-US" altLang="en-US"/>
              <a:t>Provides clear insights through visualization</a:t>
            </a:r>
            <a:endParaRPr lang="en-US" altLang="en-US"/>
          </a:p>
          <a:p>
            <a:r>
              <a:rPr lang="en-US" altLang="en-US" b="1"/>
              <a:t>Future Aspects</a:t>
            </a:r>
            <a:endParaRPr lang="en-US" altLang="en-US" b="1"/>
          </a:p>
          <a:p>
            <a:pPr lvl="2"/>
            <a:r>
              <a:rPr lang="en-US" altLang="en-US"/>
              <a:t>Automate data entry</a:t>
            </a:r>
            <a:endParaRPr lang="en-US" altLang="en-US"/>
          </a:p>
          <a:p>
            <a:pPr lvl="2"/>
            <a:r>
              <a:rPr lang="en-US" altLang="en-US"/>
              <a:t>Add BMI tracking</a:t>
            </a:r>
            <a:endParaRPr lang="en-US" altLang="en-US"/>
          </a:p>
          <a:p>
            <a:pPr lvl="2"/>
            <a:r>
              <a:rPr lang="en-US" altLang="en-US"/>
              <a:t>Use larger datasets</a:t>
            </a:r>
            <a:endParaRPr lang="en-US" altLang="en-US"/>
          </a:p>
          <a:p>
            <a:pPr lvl="2"/>
            <a:r>
              <a:rPr lang="en-US" altLang="en-US"/>
              <a:t>Integrate with mobile apps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6000">
                <a:solidFill>
                  <a:schemeClr val="accent2">
                    <a:lumMod val="75000"/>
                  </a:schemeClr>
                </a:solidFill>
                <a:effectLst/>
                <a:sym typeface="+mn-ea"/>
              </a:rPr>
              <a:t> Bibliography</a:t>
            </a:r>
            <a:endParaRPr lang="en-US" altLang="en-US" sz="6000">
              <a:solidFill>
                <a:schemeClr val="accent2">
                  <a:lumMod val="75000"/>
                </a:schemeClr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 </a:t>
            </a:r>
            <a:r>
              <a:rPr lang="en-US" altLang="en-US"/>
              <a:t>Online calorie charts</a:t>
            </a:r>
            <a:endParaRPr lang="en-US" altLang="en-US"/>
          </a:p>
          <a:p>
            <a:r>
              <a:rPr lang="en-US" altLang="en-US"/>
              <a:t>Nutrition websites</a:t>
            </a:r>
            <a:endParaRPr lang="en-US" altLang="en-US"/>
          </a:p>
          <a:p>
            <a:r>
              <a:rPr lang="en-IN" altLang="en-US"/>
              <a:t>References from previous data sets</a:t>
            </a:r>
            <a:endParaRPr lang="en-US" altLang="en-US"/>
          </a:p>
          <a:p>
            <a:r>
              <a:rPr lang="en-US" altLang="en-US"/>
              <a:t>Microsoft Excel documentation</a:t>
            </a:r>
            <a:endParaRPr lang="en-US" altLang="en-US"/>
          </a:p>
          <a:p>
            <a:r>
              <a:rPr lang="en-IN" altLang="en-US"/>
              <a:t>Online websites  for data analyses</a:t>
            </a:r>
            <a:endParaRPr lang="en-IN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rcRect b="13232"/>
          <a:stretch>
            <a:fillRect/>
          </a:stretch>
        </p:blipFill>
        <p:spPr>
          <a:xfrm>
            <a:off x="5857875" y="2160905"/>
            <a:ext cx="5340985" cy="35674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/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per" panose="02000506000000020004" pitchFamily="2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mond 6"/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-1" fmla="*/ 0 w 3225800"/>
              <a:gd name="connsiteY0-2" fmla="*/ 1612900 h 3225800"/>
              <a:gd name="connsiteX1-3" fmla="*/ 1612900 w 3225800"/>
              <a:gd name="connsiteY1-4" fmla="*/ 0 h 3225800"/>
              <a:gd name="connsiteX2-5" fmla="*/ 2430463 w 3225800"/>
              <a:gd name="connsiteY2-6" fmla="*/ 817563 h 3225800"/>
              <a:gd name="connsiteX3-7" fmla="*/ 3225800 w 3225800"/>
              <a:gd name="connsiteY3-8" fmla="*/ 1612900 h 3225800"/>
              <a:gd name="connsiteX4-9" fmla="*/ 1612900 w 3225800"/>
              <a:gd name="connsiteY4-10" fmla="*/ 3225800 h 3225800"/>
              <a:gd name="connsiteX5" fmla="*/ 0 w 3225800"/>
              <a:gd name="connsiteY5" fmla="*/ 1612900 h 3225800"/>
              <a:gd name="connsiteX0-11" fmla="*/ 0 w 3225800"/>
              <a:gd name="connsiteY0-12" fmla="*/ 1612900 h 3225800"/>
              <a:gd name="connsiteX1-13" fmla="*/ 1612900 w 3225800"/>
              <a:gd name="connsiteY1-14" fmla="*/ 0 h 3225800"/>
              <a:gd name="connsiteX2-15" fmla="*/ 2430463 w 3225800"/>
              <a:gd name="connsiteY2-16" fmla="*/ 817563 h 3225800"/>
              <a:gd name="connsiteX3-17" fmla="*/ 3225800 w 3225800"/>
              <a:gd name="connsiteY3-18" fmla="*/ 1612900 h 3225800"/>
              <a:gd name="connsiteX4-19" fmla="*/ 2430463 w 3225800"/>
              <a:gd name="connsiteY4-20" fmla="*/ 2413000 h 3225800"/>
              <a:gd name="connsiteX5-21" fmla="*/ 1612900 w 3225800"/>
              <a:gd name="connsiteY5-22" fmla="*/ 3225800 h 3225800"/>
              <a:gd name="connsiteX6" fmla="*/ 0 w 3225800"/>
              <a:gd name="connsiteY6" fmla="*/ 1612900 h 3225800"/>
              <a:gd name="connsiteX0-23" fmla="*/ 3225800 w 3317240"/>
              <a:gd name="connsiteY0-24" fmla="*/ 1612900 h 3225800"/>
              <a:gd name="connsiteX1-25" fmla="*/ 2430463 w 3317240"/>
              <a:gd name="connsiteY1-26" fmla="*/ 2413000 h 3225800"/>
              <a:gd name="connsiteX2-27" fmla="*/ 1612900 w 3317240"/>
              <a:gd name="connsiteY2-28" fmla="*/ 3225800 h 3225800"/>
              <a:gd name="connsiteX3-29" fmla="*/ 0 w 3317240"/>
              <a:gd name="connsiteY3-30" fmla="*/ 1612900 h 3225800"/>
              <a:gd name="connsiteX4-31" fmla="*/ 1612900 w 3317240"/>
              <a:gd name="connsiteY4-32" fmla="*/ 0 h 3225800"/>
              <a:gd name="connsiteX5-33" fmla="*/ 2430463 w 3317240"/>
              <a:gd name="connsiteY5-34" fmla="*/ 817563 h 3225800"/>
              <a:gd name="connsiteX6-35" fmla="*/ 3317240 w 3317240"/>
              <a:gd name="connsiteY6-36" fmla="*/ 1704340 h 3225800"/>
              <a:gd name="connsiteX0-37" fmla="*/ 2430463 w 3317240"/>
              <a:gd name="connsiteY0-38" fmla="*/ 2413000 h 3225800"/>
              <a:gd name="connsiteX1-39" fmla="*/ 1612900 w 3317240"/>
              <a:gd name="connsiteY1-40" fmla="*/ 3225800 h 3225800"/>
              <a:gd name="connsiteX2-41" fmla="*/ 0 w 3317240"/>
              <a:gd name="connsiteY2-42" fmla="*/ 1612900 h 3225800"/>
              <a:gd name="connsiteX3-43" fmla="*/ 1612900 w 3317240"/>
              <a:gd name="connsiteY3-44" fmla="*/ 0 h 3225800"/>
              <a:gd name="connsiteX4-45" fmla="*/ 2430463 w 3317240"/>
              <a:gd name="connsiteY4-46" fmla="*/ 817563 h 3225800"/>
              <a:gd name="connsiteX5-47" fmla="*/ 3317240 w 3317240"/>
              <a:gd name="connsiteY5-48" fmla="*/ 1704340 h 3225800"/>
              <a:gd name="connsiteX0-49" fmla="*/ 2430463 w 2430463"/>
              <a:gd name="connsiteY0-50" fmla="*/ 2413000 h 3225800"/>
              <a:gd name="connsiteX1-51" fmla="*/ 1612900 w 2430463"/>
              <a:gd name="connsiteY1-52" fmla="*/ 3225800 h 3225800"/>
              <a:gd name="connsiteX2-53" fmla="*/ 0 w 2430463"/>
              <a:gd name="connsiteY2-54" fmla="*/ 1612900 h 3225800"/>
              <a:gd name="connsiteX3-55" fmla="*/ 1612900 w 2430463"/>
              <a:gd name="connsiteY3-56" fmla="*/ 0 h 3225800"/>
              <a:gd name="connsiteX4-57" fmla="*/ 2430463 w 2430463"/>
              <a:gd name="connsiteY4-58" fmla="*/ 817563 h 3225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23" name="Diamond 6"/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-1" fmla="*/ 0 w 3225800"/>
              <a:gd name="connsiteY0-2" fmla="*/ 1612900 h 3225800"/>
              <a:gd name="connsiteX1-3" fmla="*/ 1612900 w 3225800"/>
              <a:gd name="connsiteY1-4" fmla="*/ 0 h 3225800"/>
              <a:gd name="connsiteX2-5" fmla="*/ 2430463 w 3225800"/>
              <a:gd name="connsiteY2-6" fmla="*/ 817563 h 3225800"/>
              <a:gd name="connsiteX3-7" fmla="*/ 3225800 w 3225800"/>
              <a:gd name="connsiteY3-8" fmla="*/ 1612900 h 3225800"/>
              <a:gd name="connsiteX4-9" fmla="*/ 1612900 w 3225800"/>
              <a:gd name="connsiteY4-10" fmla="*/ 3225800 h 3225800"/>
              <a:gd name="connsiteX5" fmla="*/ 0 w 3225800"/>
              <a:gd name="connsiteY5" fmla="*/ 1612900 h 3225800"/>
              <a:gd name="connsiteX0-11" fmla="*/ 0 w 3225800"/>
              <a:gd name="connsiteY0-12" fmla="*/ 1612900 h 3225800"/>
              <a:gd name="connsiteX1-13" fmla="*/ 1612900 w 3225800"/>
              <a:gd name="connsiteY1-14" fmla="*/ 0 h 3225800"/>
              <a:gd name="connsiteX2-15" fmla="*/ 2430463 w 3225800"/>
              <a:gd name="connsiteY2-16" fmla="*/ 817563 h 3225800"/>
              <a:gd name="connsiteX3-17" fmla="*/ 3225800 w 3225800"/>
              <a:gd name="connsiteY3-18" fmla="*/ 1612900 h 3225800"/>
              <a:gd name="connsiteX4-19" fmla="*/ 2430463 w 3225800"/>
              <a:gd name="connsiteY4-20" fmla="*/ 2413000 h 3225800"/>
              <a:gd name="connsiteX5-21" fmla="*/ 1612900 w 3225800"/>
              <a:gd name="connsiteY5-22" fmla="*/ 3225800 h 3225800"/>
              <a:gd name="connsiteX6" fmla="*/ 0 w 3225800"/>
              <a:gd name="connsiteY6" fmla="*/ 1612900 h 3225800"/>
              <a:gd name="connsiteX0-23" fmla="*/ 3225800 w 3317240"/>
              <a:gd name="connsiteY0-24" fmla="*/ 1612900 h 3225800"/>
              <a:gd name="connsiteX1-25" fmla="*/ 2430463 w 3317240"/>
              <a:gd name="connsiteY1-26" fmla="*/ 2413000 h 3225800"/>
              <a:gd name="connsiteX2-27" fmla="*/ 1612900 w 3317240"/>
              <a:gd name="connsiteY2-28" fmla="*/ 3225800 h 3225800"/>
              <a:gd name="connsiteX3-29" fmla="*/ 0 w 3317240"/>
              <a:gd name="connsiteY3-30" fmla="*/ 1612900 h 3225800"/>
              <a:gd name="connsiteX4-31" fmla="*/ 1612900 w 3317240"/>
              <a:gd name="connsiteY4-32" fmla="*/ 0 h 3225800"/>
              <a:gd name="connsiteX5-33" fmla="*/ 2430463 w 3317240"/>
              <a:gd name="connsiteY5-34" fmla="*/ 817563 h 3225800"/>
              <a:gd name="connsiteX6-35" fmla="*/ 3317240 w 3317240"/>
              <a:gd name="connsiteY6-36" fmla="*/ 1704340 h 3225800"/>
              <a:gd name="connsiteX0-37" fmla="*/ 2430463 w 3317240"/>
              <a:gd name="connsiteY0-38" fmla="*/ 2413000 h 3225800"/>
              <a:gd name="connsiteX1-39" fmla="*/ 1612900 w 3317240"/>
              <a:gd name="connsiteY1-40" fmla="*/ 3225800 h 3225800"/>
              <a:gd name="connsiteX2-41" fmla="*/ 0 w 3317240"/>
              <a:gd name="connsiteY2-42" fmla="*/ 1612900 h 3225800"/>
              <a:gd name="connsiteX3-43" fmla="*/ 1612900 w 3317240"/>
              <a:gd name="connsiteY3-44" fmla="*/ 0 h 3225800"/>
              <a:gd name="connsiteX4-45" fmla="*/ 2430463 w 3317240"/>
              <a:gd name="connsiteY4-46" fmla="*/ 817563 h 3225800"/>
              <a:gd name="connsiteX5-47" fmla="*/ 3317240 w 3317240"/>
              <a:gd name="connsiteY5-48" fmla="*/ 1704340 h 3225800"/>
              <a:gd name="connsiteX0-49" fmla="*/ 2430463 w 2430463"/>
              <a:gd name="connsiteY0-50" fmla="*/ 2413000 h 3225800"/>
              <a:gd name="connsiteX1-51" fmla="*/ 1612900 w 2430463"/>
              <a:gd name="connsiteY1-52" fmla="*/ 3225800 h 3225800"/>
              <a:gd name="connsiteX2-53" fmla="*/ 0 w 2430463"/>
              <a:gd name="connsiteY2-54" fmla="*/ 1612900 h 3225800"/>
              <a:gd name="connsiteX3-55" fmla="*/ 1612900 w 2430463"/>
              <a:gd name="connsiteY3-56" fmla="*/ 0 h 3225800"/>
              <a:gd name="connsiteX4-57" fmla="*/ 2430463 w 2430463"/>
              <a:gd name="connsiteY4-58" fmla="*/ 817563 h 3225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4*318"/>
  <p:tag name="TABLE_ENDDRAG_RECT" val="59*143*834*318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2566</Words>
  <Application>WPS Presentation</Application>
  <PresentationFormat>Custom</PresentationFormat>
  <Paragraphs>168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King</vt:lpstr>
      <vt:lpstr>Segoe Print</vt:lpstr>
      <vt:lpstr>Karla</vt:lpstr>
      <vt:lpstr>Calibri</vt:lpstr>
      <vt:lpstr>Casper</vt:lpstr>
      <vt:lpstr>Cambria</vt:lpstr>
      <vt:lpstr>Calibri Light</vt:lpstr>
      <vt:lpstr>Calibri Light</vt:lpstr>
      <vt:lpstr>Casper</vt:lpstr>
      <vt:lpstr>Yu Gothic UI</vt:lpstr>
      <vt:lpstr>Segoe UI</vt:lpstr>
      <vt:lpstr>Microsoft YaHei</vt:lpstr>
      <vt:lpstr>Arial Unicode MS</vt:lpstr>
      <vt:lpstr>Theme1</vt:lpstr>
      <vt:lpstr>Contents Slide Master</vt:lpstr>
      <vt:lpstr>PowerPoint 演示文稿</vt:lpstr>
      <vt:lpstr>Presentation Outline</vt:lpstr>
      <vt:lpstr>Introduction to Project</vt:lpstr>
      <vt:lpstr>Technology Used</vt:lpstr>
      <vt:lpstr>PowerPoint 演示文稿</vt:lpstr>
      <vt:lpstr>Existing Gaps &amp; Project Features</vt:lpstr>
      <vt:lpstr>  Objectives</vt:lpstr>
      <vt:lpstr>Scope / Relevance</vt:lpstr>
      <vt:lpstr> Project Flow</vt:lpstr>
      <vt:lpstr> Comparative Analysis</vt:lpstr>
      <vt:lpstr>Conclusion &amp; Future Aspects</vt:lpstr>
      <vt:lpstr> Bibliography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vishalsharma21287@outlook.com</dc:creator>
  <cp:lastModifiedBy>Pawandeep Kaur</cp:lastModifiedBy>
  <cp:revision>147</cp:revision>
  <dcterms:created xsi:type="dcterms:W3CDTF">2019-05-30T06:53:00Z</dcterms:created>
  <dcterms:modified xsi:type="dcterms:W3CDTF">2026-04-14T03:21:20Z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63A8409306B246C2AEF58C2124400B97_13</vt:lpwstr>
  </property>
</Properties>
</file>